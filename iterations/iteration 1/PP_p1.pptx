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0" r:id="rId2"/>
    <p:sldMasterId id="2147483660" r:id="rId3"/>
  </p:sldMasterIdLst>
  <p:sldIdLst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0" r:id="rId14"/>
    <p:sldId id="268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FE7A5-72E2-E547-DA4E-354903C1A6CE}" v="19" dt="2026-02-12T10:25:16.576"/>
    <p1510:client id="{2F525C7B-D20F-C8EA-75F7-F9AEF4D1A4CB}" v="40" dt="2026-02-12T11:09:28.832"/>
    <p1510:client id="{39C17429-50A2-801A-9402-B08A1819C708}" v="16" dt="2026-02-11T20:00:45.264"/>
    <p1510:client id="{597C8093-D5CD-4ADC-BBA1-BB2C4B89F788}" v="4" dt="2026-02-11T19:26:48.290"/>
    <p1510:client id="{60319BAD-D7B8-9EC6-0B20-0572AD95CD6B}" v="894" dt="2026-02-11T21:46:21.576"/>
    <p1510:client id="{752A1FC6-6AA4-AFCE-0130-380ED78E9876}" v="821" dt="2026-02-11T23:14:03.644"/>
    <p1510:client id="{A4DA8ADD-739E-D222-D3F6-99DBD85CED92}" v="701" dt="2026-02-11T20:28:46.325"/>
    <p1510:client id="{BC369F7A-BD34-37EE-19F1-3A8A72B12E0A}" v="35" dt="2026-02-12T10:51:57.329"/>
    <p1510:client id="{C6780C3C-D96B-6A02-5443-79CDE8F882C7}" v="230" dt="2026-02-12T10:22:34.396"/>
    <p1510:client id="{D9E3F680-2A18-9EC8-A489-F1E8CA41398C}" v="2" dt="2026-02-11T19:29:38.259"/>
    <p1510:client id="{DD6466AD-7ABA-6FA0-715B-09BDDC562A7C}" v="2" dt="2026-02-11T20:43:47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125800" y="723600"/>
            <a:ext cx="4892040" cy="11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043360" y="1699560"/>
            <a:ext cx="5056920" cy="106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70;p11"/>
          <p:cNvSpPr/>
          <p:nvPr/>
        </p:nvSpPr>
        <p:spPr>
          <a:xfrm>
            <a:off x="-1493640" y="1642320"/>
            <a:ext cx="2890440" cy="36198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" name="Google Shape;71;p11"/>
          <p:cNvGrpSpPr/>
          <p:nvPr/>
        </p:nvGrpSpPr>
        <p:grpSpPr>
          <a:xfrm>
            <a:off x="-3010320" y="-2377800"/>
            <a:ext cx="14501520" cy="9579240"/>
            <a:chOff x="-3010320" y="-2377800"/>
            <a:chExt cx="14501520" cy="9579240"/>
          </a:xfrm>
        </p:grpSpPr>
        <p:pic>
          <p:nvPicPr>
            <p:cNvPr id="13" name="Google Shape;72;p11"/>
            <p:cNvPicPr/>
            <p:nvPr/>
          </p:nvPicPr>
          <p:blipFill>
            <a:blip r:embed="rId2">
              <a:alphaModFix amt="67000"/>
            </a:blip>
            <a:srcRect l="5148" r="5141"/>
            <a:stretch/>
          </p:blipFill>
          <p:spPr>
            <a:xfrm rot="1800000">
              <a:off x="7194960" y="2329560"/>
              <a:ext cx="3453480" cy="429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" name="Google Shape;73;p11"/>
            <p:cNvPicPr/>
            <p:nvPr/>
          </p:nvPicPr>
          <p:blipFill>
            <a:blip r:embed="rId3"/>
            <a:stretch/>
          </p:blipFill>
          <p:spPr>
            <a:xfrm>
              <a:off x="5366880" y="3171240"/>
              <a:ext cx="408276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" name="Google Shape;74;p11"/>
            <p:cNvPicPr/>
            <p:nvPr/>
          </p:nvPicPr>
          <p:blipFill>
            <a:blip r:embed="rId4">
              <a:alphaModFix amt="49000"/>
            </a:blip>
            <a:srcRect l="-2360" t="1001" r="-677" b="-1001"/>
            <a:stretch/>
          </p:blipFill>
          <p:spPr>
            <a:xfrm rot="2434200">
              <a:off x="-2030040" y="-1708560"/>
              <a:ext cx="3673080" cy="4371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6" name="Google Shape;75;p11"/>
          <p:cNvSpPr/>
          <p:nvPr/>
        </p:nvSpPr>
        <p:spPr>
          <a:xfrm>
            <a:off x="7457040" y="289800"/>
            <a:ext cx="2296800" cy="67536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23760" y="1249200"/>
            <a:ext cx="488952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1" name="Google Shape;98;p14"/>
          <p:cNvGrpSpPr/>
          <p:nvPr/>
        </p:nvGrpSpPr>
        <p:grpSpPr>
          <a:xfrm>
            <a:off x="-991800" y="-1481400"/>
            <a:ext cx="11997720" cy="8640720"/>
            <a:chOff x="-991800" y="-1481400"/>
            <a:chExt cx="11997720" cy="8640720"/>
          </a:xfrm>
        </p:grpSpPr>
        <p:pic>
          <p:nvPicPr>
            <p:cNvPr id="32" name="Google Shape;99;p14"/>
            <p:cNvPicPr/>
            <p:nvPr/>
          </p:nvPicPr>
          <p:blipFill>
            <a:blip r:embed="rId2">
              <a:alphaModFix amt="61000"/>
            </a:blip>
            <a:stretch/>
          </p:blipFill>
          <p:spPr>
            <a:xfrm rot="1800000">
              <a:off x="6252120" y="4024080"/>
              <a:ext cx="3297600" cy="236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Google Shape;100;p14"/>
            <p:cNvPicPr/>
            <p:nvPr/>
          </p:nvPicPr>
          <p:blipFill>
            <a:blip r:embed="rId3">
              <a:alphaModFix amt="67000"/>
            </a:blip>
            <a:srcRect l="5148" r="5141"/>
            <a:stretch/>
          </p:blipFill>
          <p:spPr>
            <a:xfrm rot="1800000">
              <a:off x="6709680" y="2287440"/>
              <a:ext cx="3453480" cy="429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101;p14"/>
            <p:cNvPicPr/>
            <p:nvPr/>
          </p:nvPicPr>
          <p:blipFill>
            <a:blip r:embed="rId4"/>
            <a:stretch/>
          </p:blipFill>
          <p:spPr>
            <a:xfrm>
              <a:off x="-991800" y="-1481400"/>
              <a:ext cx="408276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3" name="Google Shape;147;p20"/>
          <p:cNvGrpSpPr/>
          <p:nvPr/>
        </p:nvGrpSpPr>
        <p:grpSpPr>
          <a:xfrm>
            <a:off x="-1635480" y="-3094920"/>
            <a:ext cx="13986360" cy="9857520"/>
            <a:chOff x="-1635480" y="-3094920"/>
            <a:chExt cx="13986360" cy="9857520"/>
          </a:xfrm>
        </p:grpSpPr>
        <p:pic>
          <p:nvPicPr>
            <p:cNvPr id="64" name="Google Shape;148;p20"/>
            <p:cNvPicPr/>
            <p:nvPr/>
          </p:nvPicPr>
          <p:blipFill>
            <a:blip r:embed="rId2">
              <a:alphaModFix amt="49000"/>
            </a:blip>
            <a:srcRect l="-2360" t="1001" r="-677" b="-1001"/>
            <a:stretch/>
          </p:blipFill>
          <p:spPr>
            <a:xfrm rot="2434200">
              <a:off x="7697520" y="-2425680"/>
              <a:ext cx="3673080" cy="4371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Google Shape;149;p20"/>
            <p:cNvPicPr/>
            <p:nvPr/>
          </p:nvPicPr>
          <p:blipFill>
            <a:blip r:embed="rId3"/>
            <a:stretch/>
          </p:blipFill>
          <p:spPr>
            <a:xfrm>
              <a:off x="-1635480" y="3297960"/>
              <a:ext cx="408276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732680" y="2106000"/>
            <a:ext cx="5416920" cy="1551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3148200" y="934200"/>
            <a:ext cx="1222920" cy="95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328360" y="847080"/>
            <a:ext cx="2489040" cy="344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70" name="Google Shape;22;p3"/>
          <p:cNvGrpSpPr/>
          <p:nvPr/>
        </p:nvGrpSpPr>
        <p:grpSpPr>
          <a:xfrm>
            <a:off x="-1909800" y="-1624320"/>
            <a:ext cx="12680640" cy="8648640"/>
            <a:chOff x="-1909800" y="-1624320"/>
            <a:chExt cx="12680640" cy="8648640"/>
          </a:xfrm>
        </p:grpSpPr>
        <p:pic>
          <p:nvPicPr>
            <p:cNvPr id="71" name="Google Shape;23;p3"/>
            <p:cNvPicPr/>
            <p:nvPr/>
          </p:nvPicPr>
          <p:blipFill>
            <a:blip r:embed="rId2">
              <a:alphaModFix amt="49000"/>
            </a:blip>
            <a:srcRect l="-2360" t="1001" r="12717" b="-1001"/>
            <a:stretch/>
          </p:blipFill>
          <p:spPr>
            <a:xfrm>
              <a:off x="7575480" y="-1624320"/>
              <a:ext cx="3195360" cy="4371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" name="Google Shape;24;p3"/>
            <p:cNvPicPr/>
            <p:nvPr/>
          </p:nvPicPr>
          <p:blipFill>
            <a:blip r:embed="rId3"/>
            <a:stretch/>
          </p:blipFill>
          <p:spPr>
            <a:xfrm>
              <a:off x="-1909800" y="2156760"/>
              <a:ext cx="5003640" cy="48675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125800" y="723600"/>
            <a:ext cx="4892040" cy="115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4" name="Google Shape;154;p21"/>
          <p:cNvSpPr/>
          <p:nvPr/>
        </p:nvSpPr>
        <p:spPr>
          <a:xfrm>
            <a:off x="2125800" y="3612600"/>
            <a:ext cx="489204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4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5" name="Google Shape;155;p21"/>
          <p:cNvGrpSpPr/>
          <p:nvPr/>
        </p:nvGrpSpPr>
        <p:grpSpPr>
          <a:xfrm>
            <a:off x="-1667160" y="-1217520"/>
            <a:ext cx="12423240" cy="7054560"/>
            <a:chOff x="-1667160" y="-1217520"/>
            <a:chExt cx="12423240" cy="7054560"/>
          </a:xfrm>
        </p:grpSpPr>
        <p:pic>
          <p:nvPicPr>
            <p:cNvPr id="76" name="Google Shape;156;p21"/>
            <p:cNvPicPr/>
            <p:nvPr/>
          </p:nvPicPr>
          <p:blipFill>
            <a:blip r:embed="rId5"/>
            <a:stretch/>
          </p:blipFill>
          <p:spPr>
            <a:xfrm>
              <a:off x="-1667160" y="-1217520"/>
              <a:ext cx="408276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7" name="Google Shape;157;p21"/>
            <p:cNvPicPr/>
            <p:nvPr/>
          </p:nvPicPr>
          <p:blipFill>
            <a:blip r:embed="rId6">
              <a:alphaModFix amt="88000"/>
            </a:blip>
            <a:stretch/>
          </p:blipFill>
          <p:spPr>
            <a:xfrm>
              <a:off x="7458480" y="3070440"/>
              <a:ext cx="3297600" cy="2766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8" name="Google Shape;158;p21"/>
            <p:cNvPicPr/>
            <p:nvPr/>
          </p:nvPicPr>
          <p:blipFill>
            <a:blip r:embed="rId7">
              <a:alphaModFix amt="67000"/>
            </a:blip>
            <a:srcRect l="5148" r="5141"/>
            <a:stretch/>
          </p:blipFill>
          <p:spPr>
            <a:xfrm>
              <a:off x="6567120" y="2202480"/>
              <a:ext cx="3453480" cy="3359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9" name="Google Shape;159;p21"/>
          <p:cNvSpPr/>
          <p:nvPr/>
        </p:nvSpPr>
        <p:spPr>
          <a:xfrm>
            <a:off x="-1698840" y="474840"/>
            <a:ext cx="2800800" cy="28008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125800" y="723600"/>
            <a:ext cx="4892040" cy="115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4" name="Google Shape;154;p21"/>
          <p:cNvSpPr/>
          <p:nvPr/>
        </p:nvSpPr>
        <p:spPr>
          <a:xfrm>
            <a:off x="2125800" y="3612600"/>
            <a:ext cx="489204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4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2" name="Google Shape;155;p21"/>
          <p:cNvGrpSpPr/>
          <p:nvPr/>
        </p:nvGrpSpPr>
        <p:grpSpPr>
          <a:xfrm>
            <a:off x="-1667160" y="-1217520"/>
            <a:ext cx="12423240" cy="7054560"/>
            <a:chOff x="-1667160" y="-1217520"/>
            <a:chExt cx="12423240" cy="7054560"/>
          </a:xfrm>
        </p:grpSpPr>
        <p:pic>
          <p:nvPicPr>
            <p:cNvPr id="83" name="Google Shape;156;p21"/>
            <p:cNvPicPr/>
            <p:nvPr/>
          </p:nvPicPr>
          <p:blipFill>
            <a:blip r:embed="rId5"/>
            <a:stretch/>
          </p:blipFill>
          <p:spPr>
            <a:xfrm>
              <a:off x="-1667160" y="-1217520"/>
              <a:ext cx="408276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4" name="Google Shape;157;p21"/>
            <p:cNvPicPr/>
            <p:nvPr/>
          </p:nvPicPr>
          <p:blipFill>
            <a:blip r:embed="rId6">
              <a:alphaModFix amt="88000"/>
            </a:blip>
            <a:stretch/>
          </p:blipFill>
          <p:spPr>
            <a:xfrm>
              <a:off x="7458480" y="3070440"/>
              <a:ext cx="3297600" cy="2766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5" name="Google Shape;158;p21"/>
            <p:cNvPicPr/>
            <p:nvPr/>
          </p:nvPicPr>
          <p:blipFill>
            <a:blip r:embed="rId7">
              <a:alphaModFix amt="67000"/>
            </a:blip>
            <a:srcRect l="5148" r="5141"/>
            <a:stretch/>
          </p:blipFill>
          <p:spPr>
            <a:xfrm>
              <a:off x="6567120" y="2202480"/>
              <a:ext cx="3453480" cy="3359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9" name="Google Shape;159;p21"/>
          <p:cNvSpPr/>
          <p:nvPr/>
        </p:nvSpPr>
        <p:spPr>
          <a:xfrm>
            <a:off x="-1698840" y="474840"/>
            <a:ext cx="2800800" cy="28008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164;p23"/>
          <p:cNvGrpSpPr/>
          <p:nvPr/>
        </p:nvGrpSpPr>
        <p:grpSpPr>
          <a:xfrm>
            <a:off x="-1635480" y="-3094920"/>
            <a:ext cx="13986360" cy="9857520"/>
            <a:chOff x="-1635480" y="-3094920"/>
            <a:chExt cx="13986360" cy="9857520"/>
          </a:xfrm>
        </p:grpSpPr>
        <p:pic>
          <p:nvPicPr>
            <p:cNvPr id="90" name="Google Shape;165;p23"/>
            <p:cNvPicPr/>
            <p:nvPr/>
          </p:nvPicPr>
          <p:blipFill>
            <a:blip r:embed="rId2">
              <a:alphaModFix amt="49000"/>
            </a:blip>
            <a:srcRect l="-2360" t="1001" r="-677" b="-1001"/>
            <a:stretch/>
          </p:blipFill>
          <p:spPr>
            <a:xfrm rot="2434200">
              <a:off x="7697520" y="-2425680"/>
              <a:ext cx="3673080" cy="4371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" name="Google Shape;166;p23"/>
            <p:cNvPicPr/>
            <p:nvPr/>
          </p:nvPicPr>
          <p:blipFill>
            <a:blip r:embed="rId3"/>
            <a:stretch/>
          </p:blipFill>
          <p:spPr>
            <a:xfrm>
              <a:off x="-1635480" y="3297960"/>
              <a:ext cx="408276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23760" y="1249200"/>
            <a:ext cx="488952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9" name="Google Shape;48;p7"/>
          <p:cNvGrpSpPr/>
          <p:nvPr/>
        </p:nvGrpSpPr>
        <p:grpSpPr>
          <a:xfrm>
            <a:off x="-991800" y="-1481400"/>
            <a:ext cx="11997720" cy="8640720"/>
            <a:chOff x="-991800" y="-1481400"/>
            <a:chExt cx="11997720" cy="8640720"/>
          </a:xfrm>
        </p:grpSpPr>
        <p:pic>
          <p:nvPicPr>
            <p:cNvPr id="110" name="Google Shape;49;p7"/>
            <p:cNvPicPr/>
            <p:nvPr/>
          </p:nvPicPr>
          <p:blipFill>
            <a:blip r:embed="rId2">
              <a:alphaModFix amt="61000"/>
            </a:blip>
            <a:stretch/>
          </p:blipFill>
          <p:spPr>
            <a:xfrm rot="1800000">
              <a:off x="6252120" y="4024080"/>
              <a:ext cx="3297600" cy="236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1" name="Google Shape;50;p7"/>
            <p:cNvPicPr/>
            <p:nvPr/>
          </p:nvPicPr>
          <p:blipFill>
            <a:blip r:embed="rId3">
              <a:alphaModFix amt="67000"/>
            </a:blip>
            <a:srcRect l="5148" r="5141"/>
            <a:stretch/>
          </p:blipFill>
          <p:spPr>
            <a:xfrm rot="1800000">
              <a:off x="6709680" y="2287440"/>
              <a:ext cx="3453480" cy="429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2" name="Google Shape;51;p7"/>
            <p:cNvPicPr/>
            <p:nvPr/>
          </p:nvPicPr>
          <p:blipFill>
            <a:blip r:embed="rId4"/>
            <a:stretch/>
          </p:blipFill>
          <p:spPr>
            <a:xfrm>
              <a:off x="-991800" y="-1481400"/>
              <a:ext cx="408276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450080" y="1060200"/>
            <a:ext cx="6243120" cy="302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4" name="Google Shape;54;p8"/>
          <p:cNvGrpSpPr/>
          <p:nvPr/>
        </p:nvGrpSpPr>
        <p:grpSpPr>
          <a:xfrm>
            <a:off x="-2078640" y="2007720"/>
            <a:ext cx="12968280" cy="5447160"/>
            <a:chOff x="-2078640" y="2007720"/>
            <a:chExt cx="12968280" cy="5447160"/>
          </a:xfrm>
        </p:grpSpPr>
        <p:pic>
          <p:nvPicPr>
            <p:cNvPr id="115" name="Google Shape;55;p8"/>
            <p:cNvPicPr/>
            <p:nvPr/>
          </p:nvPicPr>
          <p:blipFill>
            <a:blip r:embed="rId2">
              <a:alphaModFix amt="61000"/>
            </a:blip>
            <a:stretch/>
          </p:blipFill>
          <p:spPr>
            <a:xfrm rot="1800000">
              <a:off x="6135840" y="4319280"/>
              <a:ext cx="3297600" cy="236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6" name="Google Shape;56;p8"/>
            <p:cNvPicPr/>
            <p:nvPr/>
          </p:nvPicPr>
          <p:blipFill>
            <a:blip r:embed="rId3">
              <a:alphaModFix amt="67000"/>
            </a:blip>
            <a:srcRect l="5148" r="5141"/>
            <a:stretch/>
          </p:blipFill>
          <p:spPr>
            <a:xfrm rot="1800000">
              <a:off x="6593400" y="2583000"/>
              <a:ext cx="3453480" cy="429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7" name="Google Shape;57;p8"/>
            <p:cNvPicPr/>
            <p:nvPr/>
          </p:nvPicPr>
          <p:blipFill>
            <a:blip r:embed="rId4"/>
            <a:stretch/>
          </p:blipFill>
          <p:spPr>
            <a:xfrm>
              <a:off x="-2078640" y="2264040"/>
              <a:ext cx="408276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18" name="Google Shape;58;p8"/>
          <p:cNvGrpSpPr/>
          <p:nvPr/>
        </p:nvGrpSpPr>
        <p:grpSpPr>
          <a:xfrm>
            <a:off x="7299720" y="-783000"/>
            <a:ext cx="1666800" cy="1972800"/>
            <a:chOff x="7299720" y="-783000"/>
            <a:chExt cx="1666800" cy="1972800"/>
          </a:xfrm>
        </p:grpSpPr>
        <p:sp>
          <p:nvSpPr>
            <p:cNvPr id="119" name="Google Shape;59;p8"/>
            <p:cNvSpPr/>
            <p:nvPr/>
          </p:nvSpPr>
          <p:spPr>
            <a:xfrm>
              <a:off x="7626600" y="-783000"/>
              <a:ext cx="1339920" cy="13399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20" name="Google Shape;60;p8"/>
            <p:cNvCxnSpPr/>
            <p:nvPr/>
          </p:nvCxnSpPr>
          <p:spPr>
            <a:xfrm flipV="1">
              <a:off x="7299720" y="282240"/>
              <a:ext cx="907560" cy="9079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2198160" y="1544760"/>
            <a:ext cx="2205720" cy="77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title"/>
          </p:nvPr>
        </p:nvSpPr>
        <p:spPr>
          <a:xfrm>
            <a:off x="6094440" y="1544760"/>
            <a:ext cx="2205720" cy="77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title"/>
          </p:nvPr>
        </p:nvSpPr>
        <p:spPr>
          <a:xfrm>
            <a:off x="2198160" y="3069000"/>
            <a:ext cx="2205720" cy="77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title"/>
          </p:nvPr>
        </p:nvSpPr>
        <p:spPr>
          <a:xfrm>
            <a:off x="6094440" y="3069000"/>
            <a:ext cx="2205720" cy="77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6"/>
          <p:cNvSpPr>
            <a:spLocks noGrp="1"/>
          </p:cNvSpPr>
          <p:nvPr>
            <p:ph type="title"/>
          </p:nvPr>
        </p:nvSpPr>
        <p:spPr>
          <a:xfrm>
            <a:off x="1078200" y="1682280"/>
            <a:ext cx="775440" cy="77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title"/>
          </p:nvPr>
        </p:nvSpPr>
        <p:spPr>
          <a:xfrm>
            <a:off x="1078200" y="3209040"/>
            <a:ext cx="775440" cy="77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title"/>
          </p:nvPr>
        </p:nvSpPr>
        <p:spPr>
          <a:xfrm>
            <a:off x="4821840" y="1682280"/>
            <a:ext cx="775440" cy="77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9"/>
          <p:cNvSpPr>
            <a:spLocks noGrp="1"/>
          </p:cNvSpPr>
          <p:nvPr>
            <p:ph type="title"/>
          </p:nvPr>
        </p:nvSpPr>
        <p:spPr>
          <a:xfrm>
            <a:off x="4821840" y="3209040"/>
            <a:ext cx="775440" cy="77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6" name="Google Shape;91;p13"/>
          <p:cNvGrpSpPr/>
          <p:nvPr/>
        </p:nvGrpSpPr>
        <p:grpSpPr>
          <a:xfrm>
            <a:off x="-1153800" y="-869760"/>
            <a:ext cx="10851840" cy="6627600"/>
            <a:chOff x="-1153800" y="-869760"/>
            <a:chExt cx="10851840" cy="6627600"/>
          </a:xfrm>
        </p:grpSpPr>
        <p:pic>
          <p:nvPicPr>
            <p:cNvPr id="27" name="Google Shape;92;p13"/>
            <p:cNvPicPr/>
            <p:nvPr/>
          </p:nvPicPr>
          <p:blipFill>
            <a:blip r:embed="rId2">
              <a:alphaModFix amt="25000"/>
            </a:blip>
            <a:stretch/>
          </p:blipFill>
          <p:spPr>
            <a:xfrm>
              <a:off x="-1153800" y="4104360"/>
              <a:ext cx="2205720" cy="1653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" name="Google Shape;93;p13"/>
            <p:cNvPicPr/>
            <p:nvPr/>
          </p:nvPicPr>
          <p:blipFill>
            <a:blip r:embed="rId3"/>
            <a:stretch/>
          </p:blipFill>
          <p:spPr>
            <a:xfrm>
              <a:off x="7649280" y="-869760"/>
              <a:ext cx="2048760" cy="199296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29" name="Google Shape;94;p13"/>
          <p:cNvCxnSpPr/>
          <p:nvPr/>
        </p:nvCxnSpPr>
        <p:spPr>
          <a:xfrm flipV="1">
            <a:off x="8540640" y="3844800"/>
            <a:ext cx="907920" cy="9079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296800" y="2934720"/>
            <a:ext cx="4550040" cy="40392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8" name="Google Shape;107;p16"/>
          <p:cNvPicPr/>
          <p:nvPr/>
        </p:nvPicPr>
        <p:blipFill>
          <a:blip r:embed="rId2"/>
          <a:stretch/>
        </p:blipFill>
        <p:spPr>
          <a:xfrm>
            <a:off x="8003520" y="-1094760"/>
            <a:ext cx="2438640" cy="3254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9" name="Google Shape;108;p16"/>
          <p:cNvCxnSpPr/>
          <p:nvPr/>
        </p:nvCxnSpPr>
        <p:spPr>
          <a:xfrm flipV="1">
            <a:off x="-275400" y="4489560"/>
            <a:ext cx="907560" cy="9079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14280" y="1266480"/>
            <a:ext cx="3375720" cy="82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4553280" y="1266480"/>
            <a:ext cx="3375720" cy="82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title"/>
          </p:nvPr>
        </p:nvSpPr>
        <p:spPr>
          <a:xfrm>
            <a:off x="4553280" y="2628000"/>
            <a:ext cx="3375720" cy="82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title"/>
          </p:nvPr>
        </p:nvSpPr>
        <p:spPr>
          <a:xfrm>
            <a:off x="1214280" y="2628000"/>
            <a:ext cx="3375720" cy="82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4" name="Google Shape;118;p17"/>
          <p:cNvPicPr/>
          <p:nvPr/>
        </p:nvPicPr>
        <p:blipFill>
          <a:blip r:embed="rId2">
            <a:alphaModFix amt="88000"/>
          </a:blip>
          <a:stretch/>
        </p:blipFill>
        <p:spPr>
          <a:xfrm>
            <a:off x="-929160" y="3671640"/>
            <a:ext cx="3297600" cy="276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Google Shape;119;p17"/>
          <p:cNvPicPr/>
          <p:nvPr/>
        </p:nvPicPr>
        <p:blipFill>
          <a:blip r:embed="rId3">
            <a:alphaModFix amt="67000"/>
          </a:blip>
          <a:srcRect l="5148" r="5141"/>
          <a:stretch/>
        </p:blipFill>
        <p:spPr>
          <a:xfrm>
            <a:off x="-1824840" y="2804040"/>
            <a:ext cx="3453480" cy="335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Google Shape;120;p17"/>
          <p:cNvPicPr/>
          <p:nvPr/>
        </p:nvPicPr>
        <p:blipFill>
          <a:blip r:embed="rId4"/>
          <a:stretch/>
        </p:blipFill>
        <p:spPr>
          <a:xfrm>
            <a:off x="6885720" y="-1629360"/>
            <a:ext cx="4082760" cy="346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121;p17"/>
          <p:cNvSpPr/>
          <p:nvPr/>
        </p:nvSpPr>
        <p:spPr>
          <a:xfrm>
            <a:off x="7976520" y="3116160"/>
            <a:ext cx="1339920" cy="133992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48" name="Google Shape;122;p17"/>
          <p:cNvCxnSpPr/>
          <p:nvPr/>
        </p:nvCxnSpPr>
        <p:spPr>
          <a:xfrm flipV="1">
            <a:off x="7680960" y="4192200"/>
            <a:ext cx="907560" cy="9075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19560" y="2794680"/>
            <a:ext cx="24040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3369600" y="2794680"/>
            <a:ext cx="24040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title"/>
          </p:nvPr>
        </p:nvSpPr>
        <p:spPr>
          <a:xfrm>
            <a:off x="720000" y="2794680"/>
            <a:ext cx="24040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3" name="Google Shape;131;p18"/>
          <p:cNvPicPr/>
          <p:nvPr/>
        </p:nvPicPr>
        <p:blipFill>
          <a:blip r:embed="rId2"/>
          <a:stretch/>
        </p:blipFill>
        <p:spPr>
          <a:xfrm>
            <a:off x="6520320" y="-734400"/>
            <a:ext cx="4082760" cy="226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4" name="Google Shape;132;p18"/>
          <p:cNvCxnSpPr/>
          <p:nvPr/>
        </p:nvCxnSpPr>
        <p:spPr>
          <a:xfrm flipV="1">
            <a:off x="532800" y="4477680"/>
            <a:ext cx="907560" cy="9079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19560" y="1551960"/>
            <a:ext cx="24040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3369600" y="1551960"/>
            <a:ext cx="24040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title"/>
          </p:nvPr>
        </p:nvSpPr>
        <p:spPr>
          <a:xfrm>
            <a:off x="720000" y="1551960"/>
            <a:ext cx="24040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9" name="Google Shape;141;p19"/>
          <p:cNvPicPr/>
          <p:nvPr/>
        </p:nvPicPr>
        <p:blipFill>
          <a:blip r:embed="rId2">
            <a:alphaModFix amt="67000"/>
          </a:blip>
          <a:srcRect l="5148" r="5141"/>
          <a:stretch/>
        </p:blipFill>
        <p:spPr>
          <a:xfrm rot="1800000">
            <a:off x="7215840" y="-2607840"/>
            <a:ext cx="3453480" cy="429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Google Shape;142;p19"/>
          <p:cNvPicPr/>
          <p:nvPr/>
        </p:nvPicPr>
        <p:blipFill>
          <a:blip r:embed="rId3">
            <a:alphaModFix amt="88000"/>
          </a:blip>
          <a:stretch/>
        </p:blipFill>
        <p:spPr>
          <a:xfrm>
            <a:off x="7891200" y="3977640"/>
            <a:ext cx="3297600" cy="2766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1" name="Google Shape;143;p19"/>
          <p:cNvCxnSpPr/>
          <p:nvPr/>
        </p:nvCxnSpPr>
        <p:spPr>
          <a:xfrm flipV="1">
            <a:off x="-216000" y="4013640"/>
            <a:ext cx="907560" cy="9079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161;p22"/>
          <p:cNvPicPr/>
          <p:nvPr/>
        </p:nvPicPr>
        <p:blipFill>
          <a:blip r:embed="rId2"/>
          <a:stretch/>
        </p:blipFill>
        <p:spPr>
          <a:xfrm>
            <a:off x="-1869120" y="2007360"/>
            <a:ext cx="3477240" cy="338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Google Shape;162;p22"/>
          <p:cNvPicPr/>
          <p:nvPr/>
        </p:nvPicPr>
        <p:blipFill>
          <a:blip r:embed="rId3">
            <a:alphaModFix amt="67000"/>
          </a:blip>
          <a:srcRect l="5148" r="5141"/>
          <a:stretch/>
        </p:blipFill>
        <p:spPr>
          <a:xfrm>
            <a:off x="-1373040" y="3850920"/>
            <a:ext cx="2671920" cy="2113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720000" y="1203120"/>
            <a:ext cx="7703640" cy="2325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94" name="Google Shape;28;p4"/>
          <p:cNvPicPr/>
          <p:nvPr/>
        </p:nvPicPr>
        <p:blipFill>
          <a:blip r:embed="rId2"/>
          <a:stretch/>
        </p:blipFill>
        <p:spPr>
          <a:xfrm>
            <a:off x="-1869120" y="2007360"/>
            <a:ext cx="3477240" cy="338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Google Shape;29;p4"/>
          <p:cNvPicPr/>
          <p:nvPr/>
        </p:nvPicPr>
        <p:blipFill>
          <a:blip r:embed="rId3">
            <a:alphaModFix amt="67000"/>
          </a:blip>
          <a:srcRect l="5148" r="5141"/>
          <a:stretch/>
        </p:blipFill>
        <p:spPr>
          <a:xfrm>
            <a:off x="-1373040" y="3850920"/>
            <a:ext cx="2671920" cy="2113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977760" y="1622520"/>
            <a:ext cx="3421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8" name="PlaceHolder 3"/>
          <p:cNvSpPr>
            <a:spLocks noGrp="1"/>
          </p:cNvSpPr>
          <p:nvPr>
            <p:ph type="title"/>
          </p:nvPr>
        </p:nvSpPr>
        <p:spPr>
          <a:xfrm>
            <a:off x="4744080" y="1622520"/>
            <a:ext cx="3421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99" name="Google Shape;36;p5"/>
          <p:cNvPicPr/>
          <p:nvPr/>
        </p:nvPicPr>
        <p:blipFill>
          <a:blip r:embed="rId2">
            <a:alphaModFix amt="67000"/>
          </a:blip>
          <a:srcRect l="5148" r="5141"/>
          <a:stretch/>
        </p:blipFill>
        <p:spPr>
          <a:xfrm rot="19800000" flipH="1">
            <a:off x="-1662120" y="2021040"/>
            <a:ext cx="3453480" cy="429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Google Shape;37;p5"/>
          <p:cNvSpPr/>
          <p:nvPr/>
        </p:nvSpPr>
        <p:spPr>
          <a:xfrm>
            <a:off x="-698760" y="4214520"/>
            <a:ext cx="2296800" cy="67536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01" name="Google Shape;38;p5"/>
          <p:cNvPicPr/>
          <p:nvPr/>
        </p:nvPicPr>
        <p:blipFill>
          <a:blip r:embed="rId3">
            <a:alphaModFix amt="61000"/>
          </a:blip>
          <a:stretch/>
        </p:blipFill>
        <p:spPr>
          <a:xfrm rot="19800000" flipH="1">
            <a:off x="-658440" y="4092480"/>
            <a:ext cx="3297600" cy="236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Google Shape;39;p5"/>
          <p:cNvSpPr/>
          <p:nvPr/>
        </p:nvSpPr>
        <p:spPr>
          <a:xfrm>
            <a:off x="8424000" y="813960"/>
            <a:ext cx="2890440" cy="421632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04" name="Google Shape;42;p6"/>
          <p:cNvPicPr/>
          <p:nvPr/>
        </p:nvPicPr>
        <p:blipFill>
          <a:blip r:embed="rId2">
            <a:alphaModFix amt="49000"/>
          </a:blip>
          <a:srcRect l="-2360" t="1001" r="2360" b="-1001"/>
          <a:stretch/>
        </p:blipFill>
        <p:spPr>
          <a:xfrm>
            <a:off x="-1851120" y="-835200"/>
            <a:ext cx="2593080" cy="318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43;p6"/>
          <p:cNvPicPr/>
          <p:nvPr/>
        </p:nvPicPr>
        <p:blipFill>
          <a:blip r:embed="rId3"/>
          <a:stretch/>
        </p:blipFill>
        <p:spPr>
          <a:xfrm>
            <a:off x="8098200" y="2737800"/>
            <a:ext cx="2438640" cy="3254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6" name="Google Shape;44;p6"/>
          <p:cNvCxnSpPr/>
          <p:nvPr/>
        </p:nvCxnSpPr>
        <p:spPr>
          <a:xfrm flipV="1">
            <a:off x="7995960" y="-215640"/>
            <a:ext cx="907920" cy="9075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body"/>
          </p:nvPr>
        </p:nvSpPr>
        <p:spPr>
          <a:xfrm>
            <a:off x="720000" y="1570680"/>
            <a:ext cx="4046760" cy="21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20000" y="2269080"/>
            <a:ext cx="7703640" cy="6048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9;p2"/>
          <p:cNvPicPr/>
          <p:nvPr/>
        </p:nvPicPr>
        <p:blipFill>
          <a:blip r:embed="rId3"/>
          <a:stretch/>
        </p:blipFill>
        <p:spPr>
          <a:xfrm>
            <a:off x="5623560" y="-2210040"/>
            <a:ext cx="5243400" cy="510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10;p2"/>
          <p:cNvPicPr/>
          <p:nvPr/>
        </p:nvPicPr>
        <p:blipFill>
          <a:blip r:embed="rId4">
            <a:alphaModFix amt="88000"/>
          </a:blip>
          <a:stretch/>
        </p:blipFill>
        <p:spPr>
          <a:xfrm>
            <a:off x="-686520" y="3439440"/>
            <a:ext cx="3297600" cy="276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Google Shape;11;p2"/>
          <p:cNvPicPr/>
          <p:nvPr/>
        </p:nvPicPr>
        <p:blipFill>
          <a:blip r:embed="rId5">
            <a:alphaModFix amt="67000"/>
          </a:blip>
          <a:srcRect l="5148" r="5141"/>
          <a:stretch/>
        </p:blipFill>
        <p:spPr>
          <a:xfrm>
            <a:off x="-1577880" y="2571840"/>
            <a:ext cx="3453480" cy="335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622160" y="1508760"/>
            <a:ext cx="5899320" cy="1665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" name="Google Shape;14;p2"/>
          <p:cNvGrpSpPr/>
          <p:nvPr/>
        </p:nvGrpSpPr>
        <p:grpSpPr>
          <a:xfrm>
            <a:off x="8013240" y="2614320"/>
            <a:ext cx="1635480" cy="1983240"/>
            <a:chOff x="8013240" y="2614320"/>
            <a:chExt cx="1635480" cy="1983240"/>
          </a:xfrm>
        </p:grpSpPr>
        <p:sp>
          <p:nvSpPr>
            <p:cNvPr id="5" name="Google Shape;15;p2"/>
            <p:cNvSpPr/>
            <p:nvPr/>
          </p:nvSpPr>
          <p:spPr>
            <a:xfrm>
              <a:off x="8308800" y="2614320"/>
              <a:ext cx="1339920" cy="13399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6" name="Google Shape;16;p2"/>
            <p:cNvCxnSpPr/>
            <p:nvPr/>
          </p:nvCxnSpPr>
          <p:spPr>
            <a:xfrm flipV="1">
              <a:off x="8013240" y="3690000"/>
              <a:ext cx="907920" cy="9079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ho.int/news-room/fact-sheets/detail/cardiovascular-diseases-(cvds)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25-22326-2" TargetMode="External"/><Relationship Id="rId2" Type="http://schemas.openxmlformats.org/officeDocument/2006/relationships/hyperlink" Target="https://www.nature.com/articles/s41598-025-96437-1" TargetMode="External"/><Relationship Id="rId1" Type="http://schemas.openxmlformats.org/officeDocument/2006/relationships/slideLayout" Target="../slideLayouts/slideLayout21.xml"/><Relationship Id="rId5" Type="http://schemas.openxmlformats.org/officeDocument/2006/relationships/hyperlink" Target="https://insightsoftware.com/blog/top-5-predictive-analytics-models-and-algorithms/" TargetMode="External"/><Relationship Id="rId4" Type="http://schemas.openxmlformats.org/officeDocument/2006/relationships/hyperlink" Target="https://www.sciencedirect.com/science/article/pii/S2772442522000016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aai530-group6/heart-failure-prediction-dataset" TargetMode="External"/><Relationship Id="rId2" Type="http://schemas.openxmlformats.org/officeDocument/2006/relationships/hyperlink" Target="https://www.kaggle.com/datasets/neurocipher/heartdisease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kaggle.com/datasets/sintariosatya/heart-disease-dataset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625544" y="329753"/>
            <a:ext cx="5895720" cy="166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5500" b="1" u="none" strike="noStrike">
                <a:solidFill>
                  <a:schemeClr val="dk1"/>
                </a:solidFill>
                <a:effectLst/>
                <a:uFillTx/>
                <a:latin typeface="Raleway SemiBold"/>
                <a:ea typeface="Raleway"/>
              </a:rPr>
              <a:t>Project 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Overview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ubTitle"/>
          </p:nvPr>
        </p:nvSpPr>
        <p:spPr>
          <a:xfrm>
            <a:off x="2194979" y="1731235"/>
            <a:ext cx="4752720" cy="837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200">
                <a:solidFill>
                  <a:srgbClr val="000000"/>
                </a:solidFill>
                <a:latin typeface="OpenSymbol"/>
              </a:rPr>
              <a:t>Heart disease prediction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8" name="Google Shape;179;p27"/>
          <p:cNvSpPr/>
          <p:nvPr/>
        </p:nvSpPr>
        <p:spPr>
          <a:xfrm>
            <a:off x="-1523880" y="885960"/>
            <a:ext cx="2885760" cy="361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809720" rIns="870823080" bIns="1809720" anchor="t">
            <a:normAutofit fontScale="2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2DA8B-1AEC-71AA-D28B-E07A2132101F}"/>
              </a:ext>
            </a:extLst>
          </p:cNvPr>
          <p:cNvSpPr txBox="1"/>
          <p:nvPr/>
        </p:nvSpPr>
        <p:spPr>
          <a:xfrm>
            <a:off x="2289527" y="3115910"/>
            <a:ext cx="5729109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Arial"/>
              </a:rPr>
              <a:t>Team Members</a:t>
            </a:r>
            <a:r>
              <a:rPr lang="en-US" sz="2000">
                <a:latin typeface="Times New Roman"/>
                <a:cs typeface="Arial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Calibri"/>
                <a:cs typeface="Calibri"/>
              </a:rPr>
              <a:t>Leo Ennis -           </a:t>
            </a:r>
            <a:r>
              <a:rPr lang="en-US" sz="2000">
                <a:latin typeface="Times New Roman"/>
                <a:ea typeface="Calibri"/>
                <a:cs typeface="Arial"/>
              </a:rPr>
              <a:t>X</a:t>
            </a:r>
            <a:r>
              <a:rPr lang="en-US" sz="2000">
                <a:latin typeface="Times New Roman"/>
                <a:ea typeface="Calibri"/>
                <a:cs typeface="Calibri"/>
              </a:rPr>
              <a:t>00226717</a:t>
            </a:r>
            <a:endParaRPr lang="en-US" sz="2000">
              <a:latin typeface="Times New Roma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cs typeface="Arial"/>
              </a:rPr>
              <a:t>Illia Lysennyi -                 X00220405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cs typeface="Arial"/>
              </a:rPr>
              <a:t>Emmanuel Fulfilled -       X00227373</a:t>
            </a:r>
          </a:p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0809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Introduction 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885690" y="1360578"/>
            <a:ext cx="4309882" cy="308409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This project focuses on predicting heart disease using Machine Learning.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We aim to build reliable models using structured datasets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The goal is to improve early heart disease detection through data driven decisions</a:t>
            </a:r>
          </a:p>
        </p:txBody>
      </p:sp>
      <p:sp>
        <p:nvSpPr>
          <p:cNvPr id="131" name="Google Shape;430;p45"/>
          <p:cNvSpPr/>
          <p:nvPr/>
        </p:nvSpPr>
        <p:spPr>
          <a:xfrm>
            <a:off x="5716800" y="1060200"/>
            <a:ext cx="2489040" cy="3449160"/>
          </a:xfrm>
          <a:prstGeom prst="round2SameRect">
            <a:avLst>
              <a:gd name="adj1" fmla="val 50000"/>
              <a:gd name="adj2" fmla="val 0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Raleway"/>
              </a:rPr>
              <a:t>Problem Statement 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aleway Medium"/>
              </a:rPr>
              <a:t>and Research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34" name="image698cd08aea7f2" descr="image698cd08aea7fa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81427" y="171788"/>
            <a:ext cx="4885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Challenge 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Definition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883755" y="1493239"/>
            <a:ext cx="5330420" cy="277105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20000"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Heart disease is the leading cause of death with approximately 19.8  million deaths per year according to the World Health Organization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Predicting the presence or absence of heart disease from patient data is a binary classification problem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The challenge is building accurate models while working with different types of patient data 0</a:t>
            </a:r>
            <a:endParaRPr lang="en-GB" sz="1600">
              <a:solidFill>
                <a:schemeClr val="dk1"/>
              </a:solidFill>
              <a:latin typeface="Arial"/>
              <a:ea typeface="Open Sans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endParaRPr lang="en-GB" sz="1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600">
                <a:solidFill>
                  <a:schemeClr val="dk1"/>
                </a:solidFill>
                <a:ea typeface="+mj-lt"/>
                <a:cs typeface="+mj-lt"/>
                <a:hlinkClick r:id="rId2"/>
              </a:rPr>
              <a:t>Cardiovascular diseases (CVDs)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Open Sans"/>
              <a:ea typeface="Open Sans"/>
              <a:cs typeface="Open Sans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endParaRPr lang="en-GB" sz="1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GB" sz="1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GB" sz="1600">
              <a:solidFill>
                <a:schemeClr val="dk1"/>
              </a:solidFill>
              <a:cs typeface="Arial"/>
            </a:endParaRPr>
          </a:p>
        </p:txBody>
      </p:sp>
      <p:grpSp>
        <p:nvGrpSpPr>
          <p:cNvPr id="137" name="Google Shape;224;p31"/>
          <p:cNvGrpSpPr/>
          <p:nvPr/>
        </p:nvGrpSpPr>
        <p:grpSpPr>
          <a:xfrm>
            <a:off x="6610320" y="1622520"/>
            <a:ext cx="1666800" cy="1972800"/>
            <a:chOff x="6610320" y="1622520"/>
            <a:chExt cx="1666800" cy="1972800"/>
          </a:xfrm>
        </p:grpSpPr>
        <p:sp>
          <p:nvSpPr>
            <p:cNvPr id="138" name="Google Shape;225;p31"/>
            <p:cNvSpPr/>
            <p:nvPr/>
          </p:nvSpPr>
          <p:spPr>
            <a:xfrm>
              <a:off x="6937200" y="1622520"/>
              <a:ext cx="1339920" cy="13399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39" name="Google Shape;226;p31"/>
            <p:cNvCxnSpPr/>
            <p:nvPr/>
          </p:nvCxnSpPr>
          <p:spPr>
            <a:xfrm flipV="1">
              <a:off x="6610320" y="2687760"/>
              <a:ext cx="907920" cy="9079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u="none" strike="noStrike">
                <a:solidFill>
                  <a:schemeClr val="dk1"/>
                </a:solidFill>
                <a:effectLst/>
                <a:uFillTx/>
                <a:latin typeface="Raleway"/>
              </a:rPr>
              <a:t>Existing Models </a:t>
            </a:r>
            <a:r>
              <a:rPr lang="en-US" sz="3000" u="none" strike="noStrike">
                <a:solidFill>
                  <a:schemeClr val="dk1"/>
                </a:solidFill>
                <a:effectLst/>
                <a:uFillTx/>
                <a:latin typeface="Raleway Medium"/>
              </a:rPr>
              <a:t>Overview</a:t>
            </a:r>
            <a:endParaRPr lang="en-US" sz="3000" u="none" strike="noStrike">
              <a:solidFill>
                <a:schemeClr val="dk1"/>
              </a:solidFill>
              <a:effectLst/>
              <a:uFillTx/>
              <a:latin typeface="OpenSymbol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233588" y="1286647"/>
            <a:ext cx="8191080" cy="31826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400"/>
              <a:t>The research uses multiple advanced models as benchmarks to compare our future results.</a:t>
            </a:r>
            <a:endParaRPr lang="en-US" sz="1400">
              <a:latin typeface="OpenSymbo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400">
                <a:cs typeface="Arial"/>
              </a:rPr>
              <a:t>Some common machine learning models used would be logistic regression, random forest, and naive bayes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400">
                <a:solidFill>
                  <a:srgbClr val="000000"/>
                </a:solidFill>
                <a:latin typeface="Arial"/>
                <a:cs typeface="Arial"/>
              </a:rPr>
              <a:t>Deep learning models like Gated Recurrent Unit have also been used for heart disease prediction.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GB" sz="800">
              <a:ea typeface="+mn-lt"/>
              <a:cs typeface="+mn-lt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GB" sz="800">
              <a:ea typeface="+mn-lt"/>
              <a:cs typeface="+mn-lt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800">
                <a:ea typeface="+mn-lt"/>
                <a:cs typeface="+mn-lt"/>
              </a:rPr>
              <a:t>Links: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800">
                <a:ea typeface="+mn-lt"/>
                <a:cs typeface="+mn-lt"/>
                <a:hlinkClick r:id="rId2"/>
              </a:rPr>
              <a:t>1. Predicting coronary heart disease with advanced machine learning classifiers for improved cardiovascular risk assessment | Scientific Reports</a:t>
            </a:r>
            <a:endParaRPr lang="en-GB" sz="800">
              <a:ea typeface="+mn-lt"/>
              <a:cs typeface="+mn-lt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800">
                <a:ea typeface="+mn-lt"/>
                <a:cs typeface="+mn-lt"/>
                <a:hlinkClick r:id="rId3"/>
              </a:rPr>
              <a:t>https://www.nature.com/articles/s41598-025-22326-2</a:t>
            </a:r>
            <a:endParaRPr lang="en-GB" sz="800"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800">
                <a:ea typeface="+mn-lt"/>
                <a:cs typeface="+mn-lt"/>
                <a:hlinkClick r:id="rId4"/>
              </a:rPr>
              <a:t>2. An artificial intelligence model for heart disease detection using machine learning algorithms - ScienceDirect</a:t>
            </a:r>
            <a:endParaRPr lang="en-GB" sz="800"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GB" sz="800">
              <a:ea typeface="+mn-lt"/>
              <a:cs typeface="+mn-lt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800">
                <a:ea typeface="+mn-lt"/>
                <a:cs typeface="+mn-lt"/>
                <a:hlinkClick r:id="rId5"/>
              </a:rPr>
              <a:t>3. Top Predictive Analytics Models &amp; Algorithms (Updated 2025)</a:t>
            </a:r>
            <a:endParaRPr lang="en-GB" sz="800"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GB" sz="1200"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Data Preparation Methods</a:t>
            </a:r>
            <a:endParaRPr lang="fr-FR" sz="300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654742" y="1457024"/>
            <a:ext cx="4517018" cy="323860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20000"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800">
                <a:cs typeface="Arial"/>
              </a:rPr>
              <a:t>The dataset is the most important thing to prepare when building an AI model.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800">
                <a:solidFill>
                  <a:schemeClr val="dk1"/>
                </a:solidFill>
                <a:latin typeface="Arial"/>
                <a:ea typeface="Open Sans"/>
                <a:cs typeface="Arial"/>
              </a:rPr>
              <a:t>We have researched the most essential data preparation methods which include: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800">
                <a:solidFill>
                  <a:schemeClr val="dk1"/>
                </a:solidFill>
                <a:latin typeface="Arial"/>
                <a:ea typeface="Open Sans"/>
                <a:cs typeface="Arial"/>
              </a:rPr>
              <a:t>Data cleaning(replacing null values and handling outliers)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800">
                <a:solidFill>
                  <a:schemeClr val="dk1"/>
                </a:solidFill>
                <a:latin typeface="Arial"/>
                <a:ea typeface="Open Sans"/>
                <a:cs typeface="Arial"/>
              </a:rPr>
              <a:t>Feature selection(choosing which features have the greatest impact on the model's accuracy and dropping the others)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endParaRPr lang="en-GB" sz="1800">
              <a:solidFill>
                <a:schemeClr val="dk1"/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8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44" name="Google Shape;430;p45"/>
          <p:cNvSpPr/>
          <p:nvPr/>
        </p:nvSpPr>
        <p:spPr>
          <a:xfrm>
            <a:off x="5716800" y="1060200"/>
            <a:ext cx="2489040" cy="3449160"/>
          </a:xfrm>
          <a:prstGeom prst="round2SameRect">
            <a:avLst>
              <a:gd name="adj1" fmla="val 50000"/>
              <a:gd name="adj2" fmla="val 0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44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Raleway"/>
              </a:rPr>
              <a:t>Project Plan and 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aleway Medium"/>
              </a:rPr>
              <a:t>Data Strategy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47" name="image698cd08b12100" descr="image698cd08b12106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47"/>
          <p:cNvSpPr/>
          <p:nvPr/>
        </p:nvSpPr>
        <p:spPr>
          <a:xfrm>
            <a:off x="630936" y="274320"/>
            <a:ext cx="7886700" cy="994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91440" rIns="91440" bIns="9144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tabLst>
                <a:tab pos="0" algn="l"/>
              </a:tabLst>
            </a:pPr>
            <a:r>
              <a:rPr lang="en-US" sz="3000" kern="1200">
                <a:solidFill>
                  <a:schemeClr val="dk1"/>
                </a:solidFill>
              </a:rPr>
              <a:t>Azure DevOps Epics and Tasks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30936" y="1459230"/>
            <a:ext cx="3752850" cy="32644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  <a:tabLst>
                <a:tab pos="0" algn="l"/>
              </a:tabLst>
            </a:pPr>
            <a:r>
              <a:rPr lang="en-US" sz="1400" kern="1200">
                <a:solidFill>
                  <a:schemeClr val="dk1"/>
                </a:solidFill>
              </a:rPr>
              <a:t>We used Azure dev ops to set our objectives and delegate the work between the three of us.</a:t>
            </a:r>
            <a:endParaRPr lang="en-US"/>
          </a:p>
          <a:p>
            <a:pPr marL="285750" indent="-285750">
              <a:spcAft>
                <a:spcPts val="600"/>
              </a:spcAft>
              <a:buFont typeface="Arial"/>
              <a:buChar char="•"/>
              <a:tabLst>
                <a:tab pos="0" algn="l"/>
              </a:tabLst>
            </a:pPr>
            <a:r>
              <a:rPr lang="en-US" sz="1400" kern="1200">
                <a:solidFill>
                  <a:schemeClr val="dk1"/>
                </a:solidFill>
              </a:rPr>
              <a:t>Azure was particularly useful for helping us understand what tasks were most important and to structure our priorities around the epics and tasks system we created.</a:t>
            </a:r>
            <a:endParaRPr lang="en-US" sz="1400" kern="1200">
              <a:solidFill>
                <a:schemeClr val="dk1"/>
              </a:solidFill>
              <a:cs typeface="Arial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  <a:tabLst>
                <a:tab pos="0" algn="l"/>
              </a:tabLst>
            </a:pPr>
            <a:r>
              <a:rPr lang="en-US" sz="1400">
                <a:solidFill>
                  <a:schemeClr val="dk1"/>
                </a:solidFill>
                <a:cs typeface="Arial"/>
              </a:rPr>
              <a:t>Finally azure dev ops allowed us to track our completed tasks to get a better feel for how we are progressing.</a:t>
            </a:r>
            <a:endParaRPr lang="en-US" sz="1400" kern="1200">
              <a:solidFill>
                <a:schemeClr val="dk1"/>
              </a:solidFill>
              <a:cs typeface="Arial"/>
            </a:endParaRPr>
          </a:p>
          <a:p>
            <a:pPr>
              <a:spcAft>
                <a:spcPts val="600"/>
              </a:spcAft>
              <a:tabLst>
                <a:tab pos="0" algn="l"/>
              </a:tabLst>
            </a:pPr>
            <a:endParaRPr lang="en-US" sz="1400" kern="120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tabLst>
                <a:tab pos="0" algn="l"/>
              </a:tabLst>
            </a:pPr>
            <a:endParaRPr lang="en-US" sz="1400">
              <a:solidFill>
                <a:schemeClr val="dk1"/>
              </a:solidFill>
              <a:cs typeface="Arial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29F0A2-A9A0-D2FC-0762-2E753AF4B4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8" r="33267" b="1"/>
          <a:stretch>
            <a:fillRect/>
          </a:stretch>
        </p:blipFill>
        <p:spPr>
          <a:xfrm>
            <a:off x="4929190" y="1459230"/>
            <a:ext cx="3752850" cy="3264408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308965" y="1085957"/>
            <a:ext cx="8354895" cy="349305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2000">
                <a:latin typeface="Times New Roman"/>
                <a:cs typeface="Times New Roman"/>
              </a:rPr>
              <a:t>Each member responsible for one dataset for exploration and preparation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2000">
                <a:latin typeface="Times New Roman"/>
                <a:cs typeface="Times New Roman"/>
              </a:rPr>
              <a:t>Dataset contains structured clinical features and target variables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2000">
                <a:latin typeface="Times New Roman"/>
                <a:cs typeface="Times New Roman"/>
              </a:rPr>
              <a:t>Datasets: Kaggle, Hugging Face and Kaggle.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2000">
                <a:latin typeface="Times New Roman"/>
                <a:cs typeface="Times New Roman"/>
              </a:rPr>
              <a:t>- </a:t>
            </a:r>
            <a:r>
              <a:rPr lang="en-GB" sz="2000">
                <a:latin typeface="Times New Roman"/>
                <a:ea typeface="+mj-lt"/>
                <a:cs typeface="+mj-lt"/>
                <a:hlinkClick r:id="rId2"/>
              </a:rPr>
              <a:t>https://www.kaggle.com/datasets/neurocipher/heartdisease</a:t>
            </a:r>
            <a:r>
              <a:rPr lang="en-GB" sz="2000">
                <a:latin typeface="Times New Roman"/>
                <a:ea typeface="+mj-lt"/>
                <a:cs typeface="+mj-lt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2000">
                <a:latin typeface="Times New Roman"/>
                <a:cs typeface="Times New Roman"/>
              </a:rPr>
              <a:t>- </a:t>
            </a:r>
            <a:r>
              <a:rPr lang="en-GB" sz="2000">
                <a:latin typeface="Times New Roman"/>
                <a:ea typeface="+mj-lt"/>
                <a:cs typeface="+mj-lt"/>
                <a:hlinkClick r:id="rId3"/>
              </a:rPr>
              <a:t>https://huggingface.co/datasets/aai530-group6/heart-failure-prediction-dataset</a:t>
            </a:r>
            <a:r>
              <a:rPr lang="en-GB" sz="2000">
                <a:latin typeface="Times New Roman"/>
                <a:ea typeface="+mj-lt"/>
                <a:cs typeface="+mj-lt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2000">
                <a:latin typeface="Times New Roman"/>
                <a:ea typeface="+mj-lt"/>
                <a:cs typeface="+mj-lt"/>
              </a:rPr>
              <a:t>- </a:t>
            </a:r>
            <a:r>
              <a:rPr lang="en-GB" sz="2000">
                <a:latin typeface="Times New Roman"/>
                <a:ea typeface="+mj-lt"/>
                <a:cs typeface="+mj-lt"/>
                <a:hlinkClick r:id="rId4"/>
              </a:rPr>
              <a:t>https://www.kaggle.com/datasets/sintariosatya/heart-disease-dataset</a:t>
            </a:r>
            <a:r>
              <a:rPr lang="en-GB" sz="2000">
                <a:latin typeface="Times New Roman"/>
                <a:cs typeface="Times New Roman"/>
              </a:rPr>
              <a:t> </a:t>
            </a:r>
            <a:br>
              <a:rPr lang="en-GB" sz="2000"/>
            </a:b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2209635" y="72465"/>
            <a:ext cx="4885920" cy="82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Dataset Sources</a:t>
            </a:r>
            <a:endParaRPr lang="en-US" sz="4000" u="none" strike="noStrike">
              <a:solidFill>
                <a:schemeClr val="dk1"/>
              </a:solidFill>
              <a:effectLst/>
              <a:uFillTx/>
              <a:latin typeface="Raleway"/>
            </a:endParaRPr>
          </a:p>
        </p:txBody>
      </p:sp>
      <p:grpSp>
        <p:nvGrpSpPr>
          <p:cNvPr id="153" name="Google Shape;224;p31"/>
          <p:cNvGrpSpPr/>
          <p:nvPr/>
        </p:nvGrpSpPr>
        <p:grpSpPr>
          <a:xfrm>
            <a:off x="7475507" y="201708"/>
            <a:ext cx="1666800" cy="1973160"/>
            <a:chOff x="6610320" y="1622520"/>
            <a:chExt cx="1666800" cy="1973160"/>
          </a:xfrm>
        </p:grpSpPr>
        <p:sp>
          <p:nvSpPr>
            <p:cNvPr id="154" name="Google Shape;225;p31"/>
            <p:cNvSpPr/>
            <p:nvPr/>
          </p:nvSpPr>
          <p:spPr>
            <a:xfrm>
              <a:off x="6937200" y="1622520"/>
              <a:ext cx="1339920" cy="13399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55" name="Google Shape;226;p31"/>
            <p:cNvCxnSpPr/>
            <p:nvPr/>
          </p:nvCxnSpPr>
          <p:spPr>
            <a:xfrm flipV="1">
              <a:off x="6610320" y="2687760"/>
              <a:ext cx="907920" cy="9079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5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Raleway"/>
              </a:rPr>
              <a:t>Data Division for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Raleway Medium"/>
              </a:rPr>
              <a:t>Training, Validation, Testing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/>
              <a:buChar char="•"/>
              <a:tabLst>
                <a:tab pos="0" algn="l"/>
              </a:tabLst>
            </a:pPr>
            <a:r>
              <a:rPr lang="en-GB">
                <a:cs typeface="Arial"/>
              </a:rPr>
              <a:t>Splits :  </a:t>
            </a:r>
            <a:endParaRPr lang="en-US">
              <a:cs typeface="Arial"/>
            </a:endParaRPr>
          </a:p>
          <a:p>
            <a:pPr>
              <a:lnSpc>
                <a:spcPct val="150000"/>
              </a:lnSpc>
              <a:spcBef>
                <a:spcPct val="0"/>
              </a:spcBef>
              <a:tabLst>
                <a:tab pos="0" algn="l"/>
              </a:tabLst>
            </a:pPr>
            <a:r>
              <a:rPr lang="en-GB">
                <a:cs typeface="Arial"/>
              </a:rPr>
              <a:t>     - 70% Training</a:t>
            </a:r>
            <a:endParaRPr lang="en-US"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>
                <a:cs typeface="Arial"/>
              </a:rPr>
              <a:t>     - 15</a:t>
            </a:r>
            <a:r>
              <a:rPr lang="en-GB"/>
              <a:t>% Validation</a:t>
            </a:r>
            <a:endParaRPr lang="en-GB"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>
                <a:cs typeface="Arial"/>
              </a:rPr>
              <a:t>     - 15% Test</a:t>
            </a:r>
            <a:endParaRPr lang="en-GB"/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>
                <a:cs typeface="Arial"/>
              </a:rPr>
              <a:t>No overlap  between datasets to avoid biased results</a:t>
            </a:r>
            <a:endParaRPr lang="en-GB"/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/>
              <a:t>It enables the model to learn effective patterns </a:t>
            </a:r>
            <a:endParaRPr lang="en-GB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590068" y="206040"/>
            <a:ext cx="4885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Conclusions 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ubTitle"/>
          </p:nvPr>
        </p:nvSpPr>
        <p:spPr>
          <a:xfrm>
            <a:off x="733080" y="1691100"/>
            <a:ext cx="7164600" cy="310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27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400">
                <a:cs typeface="Arial"/>
              </a:rPr>
              <a:t>Multiple datasets to improve generalisation and robustness</a:t>
            </a:r>
          </a:p>
          <a:p>
            <a:pPr marL="285750" indent="-285750">
              <a:lnSpc>
                <a:spcPct val="27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400">
                <a:cs typeface="Arial"/>
              </a:rPr>
              <a:t>Use of established machine learning models for comparison</a:t>
            </a:r>
          </a:p>
          <a:p>
            <a:pPr marL="285750" indent="-285750">
              <a:lnSpc>
                <a:spcPct val="27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400">
                <a:cs typeface="Arial"/>
              </a:rPr>
              <a:t>Structured Azure Dev Ops plan with defined epics and tasks</a:t>
            </a:r>
          </a:p>
          <a:p>
            <a:pPr marL="285750" indent="-285750">
              <a:lnSpc>
                <a:spcPct val="27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400">
                <a:cs typeface="Arial"/>
              </a:rPr>
              <a:t>Ready to proceed to data exploration and model development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60" name="Google Shape;224;p31"/>
          <p:cNvGrpSpPr/>
          <p:nvPr/>
        </p:nvGrpSpPr>
        <p:grpSpPr>
          <a:xfrm>
            <a:off x="7443720" y="83280"/>
            <a:ext cx="1666800" cy="1972800"/>
            <a:chOff x="6610320" y="1622520"/>
            <a:chExt cx="1666800" cy="1972800"/>
          </a:xfrm>
        </p:grpSpPr>
        <p:sp>
          <p:nvSpPr>
            <p:cNvPr id="161" name="Google Shape;225;p31"/>
            <p:cNvSpPr/>
            <p:nvPr/>
          </p:nvSpPr>
          <p:spPr>
            <a:xfrm>
              <a:off x="6937200" y="1622520"/>
              <a:ext cx="1339920" cy="13399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2" name="Google Shape;226;p31"/>
            <p:cNvCxnSpPr/>
            <p:nvPr/>
          </p:nvCxnSpPr>
          <p:spPr>
            <a:xfrm flipV="1">
              <a:off x="6610320" y="2687760"/>
              <a:ext cx="907920" cy="9079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</p:spTree>
    <p:extLst>
      <p:ext uri="{BB962C8B-B14F-4D97-AF65-F5344CB8AC3E}">
        <p14:creationId xmlns:p14="http://schemas.microsoft.com/office/powerpoint/2010/main" val="481928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5D4C9-15C6-80AA-7146-25B7169A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>
            <a:extLst>
              <a:ext uri="{FF2B5EF4-FFF2-40B4-BE49-F238E27FC236}">
                <a16:creationId xmlns:a16="http://schemas.microsoft.com/office/drawing/2014/main" id="{5158A961-0C9E-C3E1-64B0-F076E3B5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560" y="1248030"/>
            <a:ext cx="4885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4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Thanks!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87C472AF-5C72-EDA2-5B23-10A0B30B01C3}"/>
              </a:ext>
            </a:extLst>
          </p:cNvPr>
          <p:cNvSpPr txBox="1">
            <a:spLocks/>
          </p:cNvSpPr>
          <p:nvPr/>
        </p:nvSpPr>
        <p:spPr>
          <a:xfrm>
            <a:off x="2843100" y="3269356"/>
            <a:ext cx="2904840" cy="43088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600" b="1">
                <a:solidFill>
                  <a:schemeClr val="dk1"/>
                </a:solidFill>
                <a:latin typeface="Open Sans"/>
                <a:ea typeface="Open Sans"/>
              </a:rPr>
              <a:t>Any questions?</a:t>
            </a: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231839781"/>
      </p:ext>
    </p:extLst>
  </p:cSld>
  <p:clrMapOvr>
    <a:masterClrMapping/>
  </p:clrMapOvr>
</p:sld>
</file>

<file path=ppt/theme/theme1.xml><?xml version="1.0" encoding="utf-8"?>
<a:theme xmlns:a="http://schemas.openxmlformats.org/drawingml/2006/main" name="Profit and Loss Statement Consulting by Slidesgo">
  <a:themeElements>
    <a:clrScheme name="Simple Light">
      <a:dk1>
        <a:srgbClr val="000000"/>
      </a:dk1>
      <a:lt1>
        <a:srgbClr val="E9E9E9"/>
      </a:lt1>
      <a:dk2>
        <a:srgbClr val="514DA2"/>
      </a:dk2>
      <a:lt2>
        <a:srgbClr val="C597BE"/>
      </a:lt2>
      <a:accent1>
        <a:srgbClr val="E7BFB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fit and Loss Statement Consulting by Slidesgo">
  <a:themeElements>
    <a:clrScheme name="Simple Light">
      <a:dk1>
        <a:srgbClr val="000000"/>
      </a:dk1>
      <a:lt1>
        <a:srgbClr val="E9E9E9"/>
      </a:lt1>
      <a:dk2>
        <a:srgbClr val="514DA2"/>
      </a:dk2>
      <a:lt2>
        <a:srgbClr val="C597BE"/>
      </a:lt2>
      <a:accent1>
        <a:srgbClr val="E7BFB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ofit and Loss Statement Consulting by Slidesgo">
  <a:themeElements>
    <a:clrScheme name="Simple Light">
      <a:dk1>
        <a:srgbClr val="000000"/>
      </a:dk1>
      <a:lt1>
        <a:srgbClr val="E9E9E9"/>
      </a:lt1>
      <a:dk2>
        <a:srgbClr val="514DA2"/>
      </a:dk2>
      <a:lt2>
        <a:srgbClr val="C597BE"/>
      </a:lt2>
      <a:accent1>
        <a:srgbClr val="E7BFB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66317cb-e948-4e5f-8cec-dabc8e2fd5da}" enabled="0" method="" siteId="{766317cb-e948-4e5f-8cec-dabc8e2fd5d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Profit and Loss Statement Consulting by Slidesgo</vt:lpstr>
      <vt:lpstr>Profit and Loss Statement Consulting by Slidesgo</vt:lpstr>
      <vt:lpstr>Profit and Loss Statement Consulting by Slidesgo</vt:lpstr>
      <vt:lpstr>Project Overview</vt:lpstr>
      <vt:lpstr>Introduction </vt:lpstr>
      <vt:lpstr>PowerPoint Presentation</vt:lpstr>
      <vt:lpstr>Challenge Definition</vt:lpstr>
      <vt:lpstr>PowerPoint Presentation</vt:lpstr>
      <vt:lpstr>Data Preparation Methods</vt:lpstr>
      <vt:lpstr>PowerPoint Presentation</vt:lpstr>
      <vt:lpstr>PowerPoint Presentation</vt:lpstr>
      <vt:lpstr>Dataset Sources</vt:lpstr>
      <vt:lpstr>PowerPoint Presentation</vt:lpstr>
      <vt:lpstr>Conclusions 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2026-05-01T13:37:55Z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2026-02-11T18:54:59Z</dcterms:created>
  <dc:creator>Unknown Creator</dc:creator>
  <dc:description/>
  <dc:language>en-US</dc:language>
  <cp:lastModifiedBy>Unknown Creator</cp:lastModifiedBy>
  <dcterms:modified xsi:type="dcterms:W3CDTF">2026-02-11T18:54:59Z</dcterms:modified>
  <cp:revision>0</cp:revision>
  <dc:subject/>
  <dc:title>Untitled Presentation</dc:title>
</cp:coreProperties>
</file>